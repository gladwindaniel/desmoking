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Slab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853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1013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Lightweight Hybrid CNN-Transformer Model for Smoke Removal in Laparoscopic Surgery Images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8575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by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Mohammed Ashlab N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(23MIA1081),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Dinesh Kumar M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(23MIA1102), and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Srishreyan S 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(23MIA1088)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4755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School of Computer Science and Engineering, Vellore Institute of Technology, Chennai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9542"/>
            <a:ext cx="69590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Motivation &amp; Problem Statement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183493"/>
            <a:ext cx="42055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Motivation: The Obscured 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64637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Minimally invasive laparoscopic surgeries are often hindered by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surgical smoke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69738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Smoke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obscures anatomical structures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increasing risks to surgical accuracy and patient safety.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74838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hardware-based smoke evacuation systems are costly and lack adaptability.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279249" y="3183493"/>
            <a:ext cx="49421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Challenge: Real-time Desmoking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79249" y="3764637"/>
            <a:ext cx="55648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an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image-based desmoking algorithm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removes smoke efficiently without introducing visual artifacts, suitable for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integration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surgical systems.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066" y="412552"/>
            <a:ext cx="9064228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Paper Summary: Progressive Frequency-Aware Network (PFAN)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25066" y="1087636"/>
            <a:ext cx="13580269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work builds upon: </a:t>
            </a:r>
            <a:r>
              <a:rPr lang="en-US" sz="11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Lightweight Hybrid CNN-Transformer Model for Smoke Removal in Laparoscopic Surgery Images"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5066" y="1496378"/>
            <a:ext cx="6715125" cy="1704499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84" y="1646396"/>
            <a:ext cx="450056" cy="45005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790" y="1770102"/>
            <a:ext cx="202525" cy="202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084" y="2246471"/>
            <a:ext cx="1875472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Novel Architecture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75084" y="2570798"/>
            <a:ext cx="641508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PFAN combines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CNNs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(local texture) and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Vision Transformers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(global context) for comprehensive image restoration.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390209" y="1496378"/>
            <a:ext cx="6715125" cy="1704499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0228" y="1646396"/>
            <a:ext cx="450056" cy="450056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3934" y="1770102"/>
            <a:ext cx="202525" cy="2025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40228" y="2246471"/>
            <a:ext cx="1875472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GAN Framework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7540228" y="2570798"/>
            <a:ext cx="641508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Operates within a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Adversarial Network (GAN)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framework to enhance realism and image quality.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525066" y="3350895"/>
            <a:ext cx="6715125" cy="1704499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084" y="3500914"/>
            <a:ext cx="450056" cy="450056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8790" y="3624620"/>
            <a:ext cx="202525" cy="2025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75084" y="4100989"/>
            <a:ext cx="1944053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Superior Performance</a:t>
            </a:r>
            <a:endParaRPr lang="en-US" sz="1450" dirty="0"/>
          </a:p>
        </p:txBody>
      </p:sp>
      <p:sp>
        <p:nvSpPr>
          <p:cNvPr id="18" name="Text 10"/>
          <p:cNvSpPr/>
          <p:nvPr/>
        </p:nvSpPr>
        <p:spPr>
          <a:xfrm>
            <a:off x="675084" y="4425315"/>
            <a:ext cx="64150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Achieves high scores in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PSNR, SSIM, and CIEDE2000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indicating excellent image reconstruction.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7390209" y="3350895"/>
            <a:ext cx="6715125" cy="1704499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0228" y="3500914"/>
            <a:ext cx="450056" cy="450056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63934" y="3624620"/>
            <a:ext cx="202525" cy="20252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540228" y="4100989"/>
            <a:ext cx="1875472" cy="23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Lightweight Design</a:t>
            </a:r>
            <a:endParaRPr lang="en-US" sz="1450" dirty="0"/>
          </a:p>
        </p:txBody>
      </p:sp>
      <p:sp>
        <p:nvSpPr>
          <p:cNvPr id="23" name="Text 13"/>
          <p:cNvSpPr/>
          <p:nvPr/>
        </p:nvSpPr>
        <p:spPr>
          <a:xfrm>
            <a:off x="7540228" y="4425315"/>
            <a:ext cx="641508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 approximately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629K parameters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PFAN is ideal for embedded medical devices and real-time applications.</a:t>
            </a:r>
            <a:endParaRPr lang="en-US" sz="1150" dirty="0"/>
          </a:p>
        </p:txBody>
      </p:sp>
      <p:sp>
        <p:nvSpPr>
          <p:cNvPr id="24" name="Text 14"/>
          <p:cNvSpPr/>
          <p:nvPr/>
        </p:nvSpPr>
        <p:spPr>
          <a:xfrm>
            <a:off x="525066" y="5224105"/>
            <a:ext cx="13580269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Comparative Performance Overview:</a:t>
            </a:r>
            <a:endParaRPr lang="en-US" sz="1150" dirty="0"/>
          </a:p>
        </p:txBody>
      </p:sp>
      <p:sp>
        <p:nvSpPr>
          <p:cNvPr id="25" name="Shape 15"/>
          <p:cNvSpPr/>
          <p:nvPr/>
        </p:nvSpPr>
        <p:spPr>
          <a:xfrm>
            <a:off x="525066" y="5632847"/>
            <a:ext cx="13580269" cy="2191703"/>
          </a:xfrm>
          <a:prstGeom prst="roundRect">
            <a:avLst>
              <a:gd name="adj" fmla="val 102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532686" y="5640467"/>
            <a:ext cx="13565029" cy="4352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17"/>
          <p:cNvSpPr/>
          <p:nvPr/>
        </p:nvSpPr>
        <p:spPr>
          <a:xfrm>
            <a:off x="682943" y="5738098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3399711" y="5738098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PSNR (dB)</a:t>
            </a:r>
            <a:endParaRPr lang="en-US" sz="1150" dirty="0"/>
          </a:p>
        </p:txBody>
      </p:sp>
      <p:sp>
        <p:nvSpPr>
          <p:cNvPr id="29" name="Text 19"/>
          <p:cNvSpPr/>
          <p:nvPr/>
        </p:nvSpPr>
        <p:spPr>
          <a:xfrm>
            <a:off x="6112669" y="5738098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SSIM</a:t>
            </a:r>
            <a:endParaRPr lang="en-US" sz="1150" dirty="0"/>
          </a:p>
        </p:txBody>
      </p:sp>
      <p:sp>
        <p:nvSpPr>
          <p:cNvPr id="30" name="Text 20"/>
          <p:cNvSpPr/>
          <p:nvPr/>
        </p:nvSpPr>
        <p:spPr>
          <a:xfrm>
            <a:off x="8825627" y="5738098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CIEDE2000</a:t>
            </a:r>
            <a:endParaRPr lang="en-US" sz="1150" dirty="0"/>
          </a:p>
        </p:txBody>
      </p:sp>
      <p:sp>
        <p:nvSpPr>
          <p:cNvPr id="31" name="Text 21"/>
          <p:cNvSpPr/>
          <p:nvPr/>
        </p:nvSpPr>
        <p:spPr>
          <a:xfrm>
            <a:off x="11538585" y="5738098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Parameters (K)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532686" y="6075759"/>
            <a:ext cx="13565029" cy="4352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23"/>
          <p:cNvSpPr/>
          <p:nvPr/>
        </p:nvSpPr>
        <p:spPr>
          <a:xfrm>
            <a:off x="682943" y="6173391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Pix2Pix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3399711" y="6173391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20.12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6112669" y="6173391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0.78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8825627" y="6173391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15.23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11538585" y="6173391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3000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532686" y="6511052"/>
            <a:ext cx="13565029" cy="4352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29"/>
          <p:cNvSpPr/>
          <p:nvPr/>
        </p:nvSpPr>
        <p:spPr>
          <a:xfrm>
            <a:off x="682943" y="6608683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CycleGAN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3399711" y="6608683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21.56</a:t>
            </a:r>
            <a:endParaRPr lang="en-US" sz="1150" dirty="0"/>
          </a:p>
        </p:txBody>
      </p:sp>
      <p:sp>
        <p:nvSpPr>
          <p:cNvPr id="41" name="Text 31"/>
          <p:cNvSpPr/>
          <p:nvPr/>
        </p:nvSpPr>
        <p:spPr>
          <a:xfrm>
            <a:off x="6112669" y="6608683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0.81</a:t>
            </a:r>
            <a:endParaRPr lang="en-US" sz="1150" dirty="0"/>
          </a:p>
        </p:txBody>
      </p:sp>
      <p:sp>
        <p:nvSpPr>
          <p:cNvPr id="42" name="Text 32"/>
          <p:cNvSpPr/>
          <p:nvPr/>
        </p:nvSpPr>
        <p:spPr>
          <a:xfrm>
            <a:off x="8825627" y="6608683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13.89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11538585" y="6608683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5000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532686" y="6946344"/>
            <a:ext cx="13565029" cy="4352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5" name="Text 35"/>
          <p:cNvSpPr/>
          <p:nvPr/>
        </p:nvSpPr>
        <p:spPr>
          <a:xfrm>
            <a:off x="682943" y="7043976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DCP</a:t>
            </a:r>
            <a:endParaRPr lang="en-US" sz="1150" dirty="0"/>
          </a:p>
        </p:txBody>
      </p:sp>
      <p:sp>
        <p:nvSpPr>
          <p:cNvPr id="46" name="Text 36"/>
          <p:cNvSpPr/>
          <p:nvPr/>
        </p:nvSpPr>
        <p:spPr>
          <a:xfrm>
            <a:off x="3399711" y="7043976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18.90</a:t>
            </a:r>
            <a:endParaRPr lang="en-US" sz="1150" dirty="0"/>
          </a:p>
        </p:txBody>
      </p:sp>
      <p:sp>
        <p:nvSpPr>
          <p:cNvPr id="47" name="Text 37"/>
          <p:cNvSpPr/>
          <p:nvPr/>
        </p:nvSpPr>
        <p:spPr>
          <a:xfrm>
            <a:off x="6112669" y="7043976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0.75</a:t>
            </a:r>
            <a:endParaRPr lang="en-US" sz="1150" dirty="0"/>
          </a:p>
        </p:txBody>
      </p:sp>
      <p:sp>
        <p:nvSpPr>
          <p:cNvPr id="48" name="Text 38"/>
          <p:cNvSpPr/>
          <p:nvPr/>
        </p:nvSpPr>
        <p:spPr>
          <a:xfrm>
            <a:off x="8825627" y="7043976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16.50</a:t>
            </a:r>
            <a:endParaRPr lang="en-US" sz="1150" dirty="0"/>
          </a:p>
        </p:txBody>
      </p:sp>
      <p:sp>
        <p:nvSpPr>
          <p:cNvPr id="49" name="Text 39"/>
          <p:cNvSpPr/>
          <p:nvPr/>
        </p:nvSpPr>
        <p:spPr>
          <a:xfrm>
            <a:off x="11538585" y="7043976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N/A</a:t>
            </a:r>
            <a:endParaRPr lang="en-US" sz="1150" dirty="0"/>
          </a:p>
        </p:txBody>
      </p:sp>
      <p:sp>
        <p:nvSpPr>
          <p:cNvPr id="50" name="Shape 40"/>
          <p:cNvSpPr/>
          <p:nvPr/>
        </p:nvSpPr>
        <p:spPr>
          <a:xfrm>
            <a:off x="532686" y="7381637"/>
            <a:ext cx="13565029" cy="4352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Text 41"/>
          <p:cNvSpPr/>
          <p:nvPr/>
        </p:nvSpPr>
        <p:spPr>
          <a:xfrm>
            <a:off x="682943" y="7479268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PFAN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3399711" y="7479268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27.95</a:t>
            </a:r>
            <a:endParaRPr lang="en-US" sz="1150" dirty="0"/>
          </a:p>
        </p:txBody>
      </p:sp>
      <p:sp>
        <p:nvSpPr>
          <p:cNvPr id="53" name="Text 43"/>
          <p:cNvSpPr/>
          <p:nvPr/>
        </p:nvSpPr>
        <p:spPr>
          <a:xfrm>
            <a:off x="6112669" y="7479268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0.85</a:t>
            </a:r>
            <a:endParaRPr lang="en-US" sz="1150" dirty="0"/>
          </a:p>
        </p:txBody>
      </p:sp>
      <p:sp>
        <p:nvSpPr>
          <p:cNvPr id="54" name="Text 44"/>
          <p:cNvSpPr/>
          <p:nvPr/>
        </p:nvSpPr>
        <p:spPr>
          <a:xfrm>
            <a:off x="8825627" y="7479268"/>
            <a:ext cx="240530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10.12</a:t>
            </a:r>
            <a:endParaRPr lang="en-US" sz="1150" dirty="0"/>
          </a:p>
        </p:txBody>
      </p:sp>
      <p:sp>
        <p:nvSpPr>
          <p:cNvPr id="55" name="Text 45"/>
          <p:cNvSpPr/>
          <p:nvPr/>
        </p:nvSpPr>
        <p:spPr>
          <a:xfrm>
            <a:off x="11538585" y="7479268"/>
            <a:ext cx="2409111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629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357" y="595074"/>
            <a:ext cx="10241042" cy="54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 Flow Diagram: Deconstructing PFAN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57357" y="1568768"/>
            <a:ext cx="13115687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Progressive Frequency-Aware Network (PFAN) processes smoke-affected images through a multi-stage architecture.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57" y="2158365"/>
            <a:ext cx="13115687" cy="51539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7357" y="7555706"/>
            <a:ext cx="13115687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09229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Experimental Setup &amp; Training Details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96835" y="878681"/>
            <a:ext cx="269605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Dataset: Cholec80 Surgical Videos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Cholec80 surgical dataset (80 unique surgeries).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4257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Selection: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660 frames were specifically chosen for synthetic smoke generation.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6835" y="16468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Smoke Synthesis: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Realistic smoke effects were generated using advanced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Blender Volumetric Rendering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6835" y="186797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Splits: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was divided into 80% for training, 10% for validation, and 10% for testing.</a:t>
            </a:r>
            <a:endParaRPr lang="en-US" sz="8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71" y="892850"/>
            <a:ext cx="6780014" cy="67800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96835" y="7984586"/>
            <a:ext cx="13836729" cy="21788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23" y="2325772"/>
            <a:ext cx="2249807" cy="22498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2937" y="3841590"/>
            <a:ext cx="291203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Training Parameters &amp; Environment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-235722" y="414676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Developed and trained using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CUDA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acceleration.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-235722" y="439335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Utilized an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NVIDIA H200 Tensor Core GPU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efficient computation.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-235722" y="4638055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Size: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Training was performed with a batch size of 6.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-235722" y="4885825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Optimizer: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Adam optimizer was used with a learning rate (LR) of 2×10⁻⁴.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-235722" y="5159808"/>
            <a:ext cx="4556300" cy="228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Epochs: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model was rigorously trained for 200 epochs to ensure convergence and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74607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Results: Quantitative Metrics and Visual Observations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396835" y="878681"/>
            <a:ext cx="206906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Quantitative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96835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PFAN demonstrates robust performance across key image quality metrics.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96835" y="1513642"/>
            <a:ext cx="6780014" cy="1890236"/>
          </a:xfrm>
          <a:prstGeom prst="roundRect">
            <a:avLst>
              <a:gd name="adj" fmla="val 9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4455" y="1521262"/>
            <a:ext cx="6764060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8517" y="1596866"/>
            <a:ext cx="20239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76776" y="1596866"/>
            <a:ext cx="202013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/ Trend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31224" y="1596866"/>
            <a:ext cx="20239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4455" y="1853922"/>
            <a:ext cx="6764060" cy="5141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8517" y="1929527"/>
            <a:ext cx="20239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PSNR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76776" y="1929527"/>
            <a:ext cx="202013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~27.95 dB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31224" y="1929527"/>
            <a:ext cx="20239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reconstruction quality and fidelity to original image.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4455" y="2368034"/>
            <a:ext cx="6764060" cy="5141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8517" y="2443639"/>
            <a:ext cx="20239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SSIM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76776" y="2443639"/>
            <a:ext cx="202013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0.22 – 0.25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31224" y="2443639"/>
            <a:ext cx="20239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to good structural preservation.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4455" y="2882146"/>
            <a:ext cx="6764060" cy="5141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8517" y="2957751"/>
            <a:ext cx="20239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76776" y="2957751"/>
            <a:ext cx="202013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(~104)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31224" y="2957751"/>
            <a:ext cx="20239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numeric accuracy with minimal error.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461171" y="878681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 Observations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61171" y="120467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exhibits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convergence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during training, avoiding oscillations.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61171" y="14257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Achieves excellent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preservation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maintaining fine details.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61171" y="1646873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balances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realism and clarity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desmoked images.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96835" y="3715600"/>
            <a:ext cx="13836729" cy="21788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96835" y="3907393"/>
            <a:ext cx="384369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Before vs. After: Visual Desmoking Performance</a:t>
            </a:r>
            <a:endParaRPr lang="en-US" sz="13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4417576"/>
            <a:ext cx="3746897" cy="3746897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893" y="4417576"/>
            <a:ext cx="3338118" cy="333811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190893" y="7059097"/>
            <a:ext cx="805017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396835" y="8419505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273135"/>
            <a:ext cx="12639318" cy="4634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476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4415"/>
            <a:ext cx="917829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Findings: Unlocking Clarity in Surgery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055019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055019"/>
            <a:ext cx="121920" cy="24566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312313"/>
            <a:ext cx="33986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Effective Smoke Removal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2802731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PFAN successfully eliminates surgical smoke while meticulously preserving crucial anatomical structures.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2055019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2055019"/>
            <a:ext cx="121920" cy="24566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2312313"/>
            <a:ext cx="33505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Robust Training Stability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5696" y="280273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Demonstrated stable GAN training with no signs of overfitting, ensuring reliable performance.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2055019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2055019"/>
            <a:ext cx="121920" cy="24566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2312313"/>
            <a:ext cx="31933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Real-time Compatibility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8868" y="2802731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Its lightweight design (~629K parameters) makes it highly suitable for real-time surgical systems.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4738449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4738449"/>
            <a:ext cx="121920" cy="24566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2524" y="4995743"/>
            <a:ext cx="35540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Hybrid Feature Integration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142524" y="5486162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Efficiently combines both frequency-domain and spatial features for superior image restoration.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216962" y="4738449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4738449"/>
            <a:ext cx="121920" cy="245661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65696" y="4995743"/>
            <a:ext cx="3132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Benchmark Superiority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5565696" y="5486162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Achieves superior performance metrics compared to existing GAN and CNN baselines.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057" y="509111"/>
            <a:ext cx="7847886" cy="92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Enhancements: Advancing Surgical Vision</a:t>
            </a:r>
            <a:endParaRPr lang="en-US" sz="2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57" y="1712357"/>
            <a:ext cx="555427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88626" y="1897499"/>
            <a:ext cx="299168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Perceptual Loss Integration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388626" y="2297906"/>
            <a:ext cx="7107317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Incorporate perceptual or feature-level loss functions to achieve even higher texture fidelity and visual realism.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11" y="3260646"/>
            <a:ext cx="555427" cy="1143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66280" y="3445788"/>
            <a:ext cx="3496389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Temporal Consistency for Video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666280" y="3846195"/>
            <a:ext cx="682966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PFAN to ensure seamless temporal consistency across video frames, critical for dynamic surgical environments.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484" y="4808934"/>
            <a:ext cx="555427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44053" y="4994077"/>
            <a:ext cx="316170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Enhanced Synthetic Realism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944053" y="5394484"/>
            <a:ext cx="6551890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synthetic smoke generation using advanced physics-based modeling for more realistic training data.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257" y="6357223"/>
            <a:ext cx="555427" cy="1143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21825" y="6542365"/>
            <a:ext cx="256329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Hardware Optimization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2221825" y="6942773"/>
            <a:ext cx="6274118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the model for real-time deployment and inference on specialized surgical hardware.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888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812" y="3402449"/>
            <a:ext cx="11347728" cy="557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Conclusion: A Clearer Vision for Laparoscopic Surgery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780812" y="4294823"/>
            <a:ext cx="13068776" cy="713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have successfully implemented and validated the Progressive Frequency-Aware Network (PFAN) for effective smoke removal in laparoscopic surgery images.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80812" y="5259705"/>
            <a:ext cx="13068776" cy="2356128"/>
          </a:xfrm>
          <a:prstGeom prst="roundRect">
            <a:avLst>
              <a:gd name="adj" fmla="val 1420"/>
            </a:avLst>
          </a:prstGeom>
          <a:solidFill>
            <a:srgbClr val="E9ECF2"/>
          </a:solidFill>
          <a:ln/>
        </p:spPr>
      </p:sp>
      <p:sp>
        <p:nvSpPr>
          <p:cNvPr id="6" name="Shape 3"/>
          <p:cNvSpPr/>
          <p:nvPr/>
        </p:nvSpPr>
        <p:spPr>
          <a:xfrm>
            <a:off x="780812" y="5259705"/>
            <a:ext cx="4356259" cy="2356128"/>
          </a:xfrm>
          <a:prstGeom prst="roundRect">
            <a:avLst>
              <a:gd name="adj" fmla="val 1420"/>
            </a:avLst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1003816" y="5482709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Proven Effectiveness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003816" y="5965031"/>
            <a:ext cx="3910251" cy="107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PFAN delivers consistent and high-quality desmoking results on synthetic surgical datasets.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137071" y="5259705"/>
            <a:ext cx="4356259" cy="2356128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0" name="Shape 7"/>
          <p:cNvSpPr/>
          <p:nvPr/>
        </p:nvSpPr>
        <p:spPr>
          <a:xfrm>
            <a:off x="5137071" y="5259705"/>
            <a:ext cx="30480" cy="2356128"/>
          </a:xfrm>
          <a:prstGeom prst="roundRect">
            <a:avLst>
              <a:gd name="adj" fmla="val 109798"/>
            </a:avLst>
          </a:prstGeom>
          <a:solidFill>
            <a:srgbClr val="CFD2D8"/>
          </a:solidFill>
          <a:ln/>
        </p:spPr>
      </p:sp>
      <p:sp>
        <p:nvSpPr>
          <p:cNvPr id="11" name="Text 8"/>
          <p:cNvSpPr/>
          <p:nvPr/>
        </p:nvSpPr>
        <p:spPr>
          <a:xfrm>
            <a:off x="5360075" y="5482709"/>
            <a:ext cx="3738086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Innovative Hybrid Approach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5360075" y="5965031"/>
            <a:ext cx="3910251" cy="142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approach bridges deep learning with frequency-domain analysis, setting a new standard for image restoration.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493329" y="5259705"/>
            <a:ext cx="4356259" cy="2356128"/>
          </a:xfrm>
          <a:prstGeom prst="rect">
            <a:avLst/>
          </a:prstGeom>
          <a:solidFill>
            <a:srgbClr val="E9ECF2"/>
          </a:solidFill>
          <a:ln/>
        </p:spPr>
      </p:sp>
      <p:sp>
        <p:nvSpPr>
          <p:cNvPr id="14" name="Shape 11"/>
          <p:cNvSpPr/>
          <p:nvPr/>
        </p:nvSpPr>
        <p:spPr>
          <a:xfrm>
            <a:off x="9493329" y="5259705"/>
            <a:ext cx="30480" cy="2356128"/>
          </a:xfrm>
          <a:prstGeom prst="roundRect">
            <a:avLst>
              <a:gd name="adj" fmla="val 109798"/>
            </a:avLst>
          </a:prstGeom>
          <a:solidFill>
            <a:srgbClr val="CFD2D8"/>
          </a:solidFill>
          <a:ln/>
        </p:spPr>
      </p:sp>
      <p:sp>
        <p:nvSpPr>
          <p:cNvPr id="15" name="Text 12"/>
          <p:cNvSpPr/>
          <p:nvPr/>
        </p:nvSpPr>
        <p:spPr>
          <a:xfrm>
            <a:off x="9716333" y="5482709"/>
            <a:ext cx="3910251" cy="696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Foundation for AI-Assisted Systems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9716333" y="6313527"/>
            <a:ext cx="3910251" cy="1070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research provides a promising direction for developing advanced AI-assisted medical vision systems.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8165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References: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68878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draws upon foundational research in generative adversarial networks, vision transformers, and medical image processing.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66974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Goodfellow et al., </a:t>
            </a:r>
            <a:r>
              <a:rPr lang="en-US" sz="17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"Generative Adversarial Networks,"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NIPS, 2020.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11194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Dosovitskiy et al., </a:t>
            </a:r>
            <a:r>
              <a:rPr lang="en-US" sz="17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"An Image is Worth 16x16 Words: Transformers for Image Recognition at Scale,"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ICLR, 2020.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91704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Bolkar et al., </a:t>
            </a:r>
            <a:r>
              <a:rPr lang="en-US" sz="17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"Deep Smoke Removal from Minimally Invasive Surgery Videos,"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ICIP, 2018.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72214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 et al., </a:t>
            </a:r>
            <a:r>
              <a:rPr lang="en-US" sz="17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"Single Image Haze Removal Using Dark Channel Prior,"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CVPR, 2009.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870</Words>
  <Application>Microsoft Macintosh PowerPoint</Application>
  <PresentationFormat>Custom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Roboto</vt:lpstr>
      <vt:lpstr>Arial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Mohammed Ashlab</cp:lastModifiedBy>
  <cp:revision>2</cp:revision>
  <dcterms:created xsi:type="dcterms:W3CDTF">2025-11-14T19:01:41Z</dcterms:created>
  <dcterms:modified xsi:type="dcterms:W3CDTF">2025-11-14T19:04:32Z</dcterms:modified>
</cp:coreProperties>
</file>